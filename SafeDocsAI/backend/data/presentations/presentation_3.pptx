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468880"/>
            <a:ext cx="10545775" cy="1828800"/>
          </a:xfrm>
        </p:spPr>
        <p:txBody>
          <a:bodyPr/>
          <a:lstStyle>
            <a:lvl1pPr marL="0" indent="0">
              <a:buNone/>
              <a:defRPr sz="4000" b="1">
                <a:solidFill>
                  <a:srgbClr val="1F3A63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4389120"/>
            <a:ext cx="10545775" cy="822960"/>
          </a:xfrm>
        </p:spPr>
        <p:txBody>
          <a:bodyPr/>
          <a:lstStyle>
            <a:lvl1pPr marL="0" indent="0">
              <a:buNone/>
              <a:defRPr sz="1800">
                <a:solidFill>
                  <a:srgbClr val="6B7684"/>
                </a:solidFill>
                <a:latin typeface="Calibri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7" name="Accent Bar"/>
          <p:cNvSpPr/>
          <p:nvPr/>
        </p:nvSpPr>
        <p:spPr>
          <a:xfrm>
            <a:off x="822960" y="2103120"/>
            <a:ext cx="1463040" cy="100584"/>
          </a:xfrm>
          <a:prstGeom prst="rect">
            <a:avLst/>
          </a:prstGeom>
          <a:solidFill>
            <a:srgbClr val="1F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40080"/>
            <a:ext cx="10545775" cy="914400"/>
          </a:xfrm>
        </p:spPr>
        <p:txBody>
          <a:bodyPr/>
          <a:lstStyle>
            <a:lvl1pPr marL="0" indent="0">
              <a:buNone/>
              <a:defRPr sz="2800" b="1">
                <a:solidFill>
                  <a:srgbClr val="1F3A63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45775" cy="4297680"/>
          </a:xfrm>
        </p:spPr>
        <p:txBody>
          <a:bodyPr/>
          <a:lstStyle>
            <a:lvl1pPr marL="274320" indent="-274320">
              <a:spcBef>
                <a:spcPts val="600"/>
              </a:spcBef>
              <a:buClr>
                <a:srgbClr val="1F3A63"/>
              </a:buClr>
              <a:buChar char="•"/>
              <a:defRPr sz="2000">
                <a:solidFill>
                  <a:srgbClr val="2E3440"/>
                </a:solidFill>
                <a:latin typeface="Calibri"/>
              </a:defRPr>
            </a:lvl1pPr>
            <a:lvl2pPr marL="594359" indent="-274320">
              <a:spcBef>
                <a:spcPts val="600"/>
              </a:spcBef>
              <a:buClr>
                <a:srgbClr val="1F3A63"/>
              </a:buClr>
              <a:buChar char="–"/>
              <a:defRPr sz="1600">
                <a:solidFill>
                  <a:srgbClr val="2E3440"/>
                </a:solidFill>
                <a:latin typeface="Calibri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822960" cy="365760"/>
          </a:xfrm>
        </p:spPr>
        <p:txBody>
          <a:bodyPr/>
          <a:lstStyle>
            <a:lvl1pPr marL="0" indent="0">
              <a:buNone/>
              <a:defRPr sz="1100">
                <a:solidFill>
                  <a:srgbClr val="6B7684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926080"/>
            <a:ext cx="10545775" cy="1280160"/>
          </a:xfrm>
        </p:spPr>
        <p:txBody>
          <a:bodyPr anchor="t"/>
          <a:lstStyle>
            <a:lvl1pPr marL="0" indent="0">
              <a:buNone/>
              <a:defRPr sz="3200" b="1">
                <a:solidFill>
                  <a:srgbClr val="1F3A63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114800"/>
            <a:ext cx="10545775" cy="731520"/>
          </a:xfrm>
        </p:spPr>
        <p:txBody>
          <a:bodyPr anchor="b"/>
          <a:lstStyle>
            <a:lvl1pPr marL="0" indent="0">
              <a:buNone/>
              <a:defRPr sz="1600">
                <a:solidFill>
                  <a:srgbClr val="6B7684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Accent Bar"/>
          <p:cNvSpPr/>
          <p:nvPr/>
        </p:nvSpPr>
        <p:spPr>
          <a:xfrm>
            <a:off x="822960" y="2651760"/>
            <a:ext cx="822960" cy="100584"/>
          </a:xfrm>
          <a:prstGeom prst="rect">
            <a:avLst/>
          </a:prstGeom>
          <a:solidFill>
            <a:srgbClr val="1F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ourc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40080"/>
            <a:ext cx="10545775" cy="914400"/>
          </a:xfrm>
        </p:spPr>
        <p:txBody>
          <a:bodyPr/>
          <a:lstStyle>
            <a:lvl1pPr marL="0" indent="0">
              <a:buNone/>
              <a:defRPr sz="2800" b="1">
                <a:solidFill>
                  <a:srgbClr val="1F3A63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737360"/>
            <a:ext cx="10545775" cy="4297680"/>
          </a:xfrm>
        </p:spPr>
        <p:txBody>
          <a:bodyPr/>
          <a:lstStyle>
            <a:lvl1pPr marL="0" indent="0">
              <a:buNone/>
              <a:spcBef>
                <a:spcPts val="500"/>
              </a:spcBef>
              <a:defRPr sz="1400">
                <a:solidFill>
                  <a:srgbClr val="6B7684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822960" cy="365760"/>
          </a:xfrm>
        </p:spPr>
        <p:txBody>
          <a:bodyPr/>
          <a:lstStyle>
            <a:lvl1pPr marL="0" indent="0">
              <a:buNone/>
              <a:defRPr sz="1100">
                <a:solidFill>
                  <a:srgbClr val="6B7684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Анализ Послания Президента Республики Таджикистан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Паёмҳои Президент · 04.08.2026 · 10 слайдов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Введение и контекст выступления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Паёми Президента Эмомали Рахмона о направлении внутренней и внешней политики будет проведено в новом здании Маджлиси Олӣ.</a:t>
            </a:r>
          </a:p>
          <a:p>
            <a:pPr/>
            <a:r>
              <a:t>В 2024 году объем ВВП страны достиг более 150 миллиардов сомони при темпе роста 8,4%.</a:t>
            </a:r>
          </a:p>
          <a:p>
            <a:pPr/>
            <a:r>
              <a:t>За последние пять лет среднегодовой темп развития национальной экономики составил 7,7%.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Социальные реформы и уровень жизни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С июля 2024 года зарплаты бюджетников, стипендии увеличились на 40%, а размер пенсий — на 30%.</a:t>
            </a:r>
          </a:p>
          <a:p>
            <a:pPr/>
            <a:r>
              <a:t>За последние пять лет должностные оклады работников бюджетной сферы выросли в четыре раза.</a:t>
            </a:r>
          </a:p>
          <a:p>
            <a:pPr/>
            <a:r>
              <a:t>Минимальный размер оплаты труда во всех социально-экономических отраслях установлен на уровне 1000 сомони в месяц.</a:t>
            </a:r>
          </a:p>
          <a:p>
            <a:pPr/>
            <a:r>
              <a:t>Объем расходов социальной сферы в 2024 году составил 19 миллиардов сомони, что на 2 миллиарда больше, чем в 2023 году.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Контроль за налоговыми поступлениями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За 11 месяцев 2024 года благодаря проверке 1150 налогоплательщиков в государственный бюджет дополнительно поступило 1 миллиард 640 миллионов сомони (40/659).</a:t>
            </a:r>
          </a:p>
          <a:p>
            <a:pPr/>
            <a:r>
              <a:t>Количество налоговых проверок деятельности субъектов хозяйствования в 2023 году по сравнению с 2014 годом сократилось в два раза, при этом выявленные и уплаченные суммы выросли в четыре раза (40/659).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Развитие промышленного сектора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За последние пять лет объем промышленной продукции страны вырос почти вдвое — с 27 до 53 миллиардов сомони, при этом создано более 2040 промышленных предприятий и 74 тысячи рабочих мест.</a:t>
            </a:r>
          </a:p>
          <a:p>
            <a:pPr/>
            <a:r>
              <a:t>Только в 2024 году было создано 740 новых производственных предприятий, обеспечивших появление почти 20 тысяч новых рабочих мест.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Инфраструктурное строительство и дороги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В 2024 году в рамках государственных инвестиционных проектов построе 155 км дорог международного и республиканского значения, 20 крупных мостов и 3 тоннеля на сумму 4,6 млрд сомони.</a:t>
            </a:r>
          </a:p>
          <a:p>
            <a:pPr/>
            <a:r>
              <a:t>В 2024 году отремонтировано более 2000 км местных дорог и завершено строительство 23 мостов за счет различных источников финансирования, включая средства предпринимателей.</a:t>
            </a:r>
          </a:p>
          <a:p>
            <a:pPr/>
            <a:r>
              <a:t>В 2024 году начата реконструкция автодорог «Дангара – Гулистон» (50 км) и «Гулистон – Фархор» (33 км).</a:t>
            </a:r>
          </a:p>
          <a:p>
            <a:pPr/>
            <a:r>
              <a:t>В 2025 году в Согдийской области запланировано восстановление 52 км дорог республиканского и международного значения.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Бюджетная политика и социальные расходы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Доля расходов социальной сферы в общем объеме государственных бюджетных расходов в 2024 году составила 43% (40/690).</a:t>
            </a:r>
          </a:p>
          <a:p>
            <a:pPr/>
            <a:r>
              <a:t>На развитие сфер образования и здравоохранения за последние пять лет было направлено 36 миллиардов сомони (38/371).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Международное признание и спорт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Принятие ООН специальной резолюции о провозглашении Всемирного дня футбола является важным достижением (40/737).</a:t>
            </a:r>
          </a:p>
          <a:p>
            <a:pPr/>
            <a:r>
              <a:t>Достижения таджикских спортсменов на Олимпийских играх в Париже 2024 года вызывают гордость (40/737, 40/738).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Предстоящие избирательные кампании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Выборы депутатов Маджлиси намояндагон Маджлиси Олӣ и местных мажлисов назначены на 2 марта 2025 года (40/744).</a:t>
            </a:r>
          </a:p>
          <a:p>
            <a:pPr/>
            <a:r>
              <a:t>Предстоящие выборы должны пройти на высоком уровне, прозрачно и свободно в соответствии с Конституцией и законами Республики Таджикистан (40/744).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Источники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payom2022.txt — стр. 1</a:t>
            </a:r>
          </a:p>
          <a:p>
            <a:pPr/>
            <a:r>
              <a:t>payom2024.txt — стр.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