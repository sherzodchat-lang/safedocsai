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2468880"/>
            <a:ext cx="10545775" cy="1828800"/>
          </a:xfrm>
        </p:spPr>
        <p:txBody>
          <a:bodyPr/>
          <a:lstStyle>
            <a:lvl1pPr marL="0" indent="0">
              <a:buNone/>
              <a:defRPr sz="40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4389120"/>
            <a:ext cx="10545775" cy="822960"/>
          </a:xfrm>
        </p:spPr>
        <p:txBody>
          <a:bodyPr/>
          <a:lstStyle>
            <a:lvl1pPr marL="0" indent="0">
              <a:buNone/>
              <a:defRPr sz="1800">
                <a:solidFill>
                  <a:srgbClr val="6B7684"/>
                </a:solidFill>
                <a:latin typeface="Calibri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7" name="Accent Bar"/>
          <p:cNvSpPr/>
          <p:nvPr/>
        </p:nvSpPr>
        <p:spPr>
          <a:xfrm>
            <a:off x="822960" y="2103120"/>
            <a:ext cx="1463040" cy="100584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274320" indent="-274320">
              <a:spcBef>
                <a:spcPts val="600"/>
              </a:spcBef>
              <a:buClr>
                <a:srgbClr val="1F3A63"/>
              </a:buClr>
              <a:buChar char="•"/>
              <a:defRPr sz="2000">
                <a:solidFill>
                  <a:srgbClr val="2E3440"/>
                </a:solidFill>
                <a:latin typeface="Calibri"/>
              </a:defRPr>
            </a:lvl1pPr>
            <a:lvl2pPr marL="594359" indent="-274320">
              <a:spcBef>
                <a:spcPts val="600"/>
              </a:spcBef>
              <a:buClr>
                <a:srgbClr val="1F3A63"/>
              </a:buClr>
              <a:buChar char="–"/>
              <a:defRPr sz="1600">
                <a:solidFill>
                  <a:srgbClr val="2E3440"/>
                </a:solidFill>
                <a:latin typeface="Calibri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6B7684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926080"/>
            <a:ext cx="10545775" cy="1280160"/>
          </a:xfrm>
        </p:spPr>
        <p:txBody>
          <a:bodyPr anchor="t"/>
          <a:lstStyle>
            <a:lvl1pPr marL="0" indent="0">
              <a:buNone/>
              <a:defRPr sz="32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114800"/>
            <a:ext cx="10545775" cy="731520"/>
          </a:xfrm>
        </p:spPr>
        <p:txBody>
          <a:bodyPr anchor="b"/>
          <a:lstStyle>
            <a:lvl1pPr marL="0" indent="0">
              <a:buNone/>
              <a:defRPr sz="1600">
                <a:solidFill>
                  <a:srgbClr val="6B7684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Accent Bar"/>
          <p:cNvSpPr/>
          <p:nvPr/>
        </p:nvSpPr>
        <p:spPr>
          <a:xfrm>
            <a:off x="822960" y="2651760"/>
            <a:ext cx="822960" cy="100584"/>
          </a:xfrm>
          <a:prstGeom prst="rect">
            <a:avLst/>
          </a:prstGeom>
          <a:solidFill>
            <a:srgbClr val="1F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ourc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640080"/>
            <a:ext cx="10545775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rgbClr val="1F3A63"/>
                </a:solidFill>
                <a:latin typeface="Calibri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737360"/>
            <a:ext cx="10545775" cy="4297680"/>
          </a:xfrm>
        </p:spPr>
        <p:txBody>
          <a:bodyPr/>
          <a:lstStyle>
            <a:lvl1pPr marL="0" indent="0">
              <a:buNone/>
              <a:spcBef>
                <a:spcPts val="500"/>
              </a:spcBef>
              <a:defRPr sz="1400">
                <a:solidFill>
                  <a:srgbClr val="6B7684"/>
                </a:solidFill>
                <a:latin typeface="Calibri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8655" y="6172200"/>
            <a:ext cx="822960" cy="365760"/>
          </a:xfrm>
        </p:spPr>
        <p:txBody>
          <a:bodyPr/>
          <a:lstStyle>
            <a:lvl1pPr marL="0" indent="0">
              <a:buNone/>
              <a:defRPr sz="1100">
                <a:solidFill>
                  <a:srgbClr val="6B7684"/>
                </a:solidFill>
                <a:latin typeface="Calibri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Таҳлили Паёмҳои Президент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Паёмҳои Президент · 04.08.2026 · 5 слайд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Соҳаи маориф ва сифати таҳсилот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Солҳои 2020–2040 ҳамчун «Солҳои омӯзиш ва рушди фанҳои риёзӣ, дақиқ ва табиӣ дар соҳаи илму маориф» эълон гардидаанд</a:t>
            </a:r>
          </a:p>
          <a:p>
            <a:pPr/>
            <a:r>
              <a:t>Шумораи донишҷӯён ва мутахассисони ба муассисаҳои таълимии хориҷӣ фиристодашаванда бояд ду баробар зиёд карда шавад</a:t>
            </a:r>
          </a:p>
          <a:p>
            <a:pPr/>
            <a:r>
              <a:t>Ба Вазоратҳо супориш дода шуд, ки ҷиҳати таҳияи «Барномаи тайёр кардани кадрҳои ҷавони илмӣ барои солҳои 2021–2030» чорабиниҳо намоянд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Иҷтимоият ва дастгирии аҳолӣ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Ба гурӯҳҳои осебпазир имтиёзҳои андозиву қарзӣ ва ҷубронпулиҳо ба маблағи зиёда аз 450 миллион сомонӣ пешниҳод карда шуданд</a:t>
            </a:r>
          </a:p>
          <a:p>
            <a:pPr/>
            <a:r>
              <a:t>Барои бунёди се мактаби интернати Президентӣ барои ятимони кулл дар Хатлон, Суғд ва Душанбе чораҷӯӣ кардан лозим аст</a:t>
            </a:r>
          </a:p>
          <a:p>
            <a:pPr/>
            <a:r>
              <a:t>Дар бист соли охир 138 ҳазор гектар замин барои бунёди манзил ба 1 миллиону 400 ҳазор оила ҷудо карда дода шудааст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Иқтисодиёт, сиёсат ва сармоягузорӣ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Барои ҷалби сармояи шаҳрвандон ба иқтисоди миллӣ пешниҳод мешавад, ки соли ҷорӣ маблағҳо ва дигар дороиҳо аз рӯи қонун афв гузаранд</a:t>
            </a:r>
          </a:p>
          <a:p>
            <a:pPr/>
            <a:r>
              <a:t>Интихоботи вакилон ба Маҷлиси намояндагони Маҷлиси Олӣ ва маҷлисҳои маҳаллӣ рӯзи 2-юми марти соли 2025 таъин гардидааст</a:t>
            </a:r>
          </a:p>
          <a:p>
            <a:pPr/>
            <a:r>
              <a:t>Ҷалби сармояи мустақим барои таъмин намудани рушди устувори иқтисоди миллӣ яке аз самтҳои афзалиятноки сиёсати иқтисодӣ мебошад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Манбаъҳо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t>payom2020.txt — саҳ. 1</a:t>
            </a:r>
          </a:p>
          <a:p>
            <a:pPr/>
            <a:r>
              <a:t>payom2021.txt — саҳ. 1</a:t>
            </a:r>
          </a:p>
          <a:p>
            <a:pPr/>
            <a:r>
              <a:t>payom2024.txt — саҳ.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